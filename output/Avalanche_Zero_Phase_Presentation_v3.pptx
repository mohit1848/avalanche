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83228d3fae4d6b" /><Relationship Type="http://schemas.openxmlformats.org/officeDocument/2006/relationships/extended-properties" Target="/docProps/app.xml" Id="R6693cbad21054691" /><Relationship Type="http://schemas.openxmlformats.org/officeDocument/2006/relationships/officeDocument" Target="/ppt/presentation.xml" Id="Re46d74ab76fb42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f4e04bec6d4c45"/>
  </p:sldMasterIdLst>
  <p:notesMasterIdLst>
    <p:notesMasterId xmlns:r="http://schemas.openxmlformats.org/officeDocument/2006/relationships" r:id="Ra6844225d2734520"/>
  </p:notesMasterIdLst>
  <p:sldIdLst>
    <p:sldId xmlns:r="http://schemas.openxmlformats.org/officeDocument/2006/relationships" id="256" r:id="R72ee7f0babae48d3"/>
    <p:sldId xmlns:r="http://schemas.openxmlformats.org/officeDocument/2006/relationships" id="257" r:id="Re3ca33a2449949ef"/>
    <p:sldId xmlns:r="http://schemas.openxmlformats.org/officeDocument/2006/relationships" id="258" r:id="Rb1dcc46e0f46410f"/>
    <p:sldId xmlns:r="http://schemas.openxmlformats.org/officeDocument/2006/relationships" id="259" r:id="R038c3342a83a4e6e"/>
    <p:sldId xmlns:r="http://schemas.openxmlformats.org/officeDocument/2006/relationships" id="260" r:id="R4f01336784e74952"/>
    <p:sldId xmlns:r="http://schemas.openxmlformats.org/officeDocument/2006/relationships" id="261" r:id="R7e1ed778f8a94c33"/>
    <p:sldId xmlns:r="http://schemas.openxmlformats.org/officeDocument/2006/relationships" id="262" r:id="Rd4577751a4a14ff9"/>
    <p:sldId xmlns:r="http://schemas.openxmlformats.org/officeDocument/2006/relationships" id="263" r:id="R9655560774f54847"/>
    <p:sldId xmlns:r="http://schemas.openxmlformats.org/officeDocument/2006/relationships" id="264" r:id="R5110035b4b7847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c7b68a376c4f8b" /><Relationship Type="http://schemas.openxmlformats.org/officeDocument/2006/relationships/slideMaster" Target="/ppt/slideMasters/slideMaster1.xml" Id="Rdbf4e04bec6d4c45" /><Relationship Type="http://schemas.openxmlformats.org/officeDocument/2006/relationships/notesMaster" Target="/ppt/notesMasters/notesMaster1.xml" Id="Ra6844225d2734520" /><Relationship Type="http://schemas.openxmlformats.org/officeDocument/2006/relationships/presProps" Target="/ppt/presProps.xml" Id="R1eb8eed3a46e4435" /><Relationship Type="http://schemas.openxmlformats.org/officeDocument/2006/relationships/tableStyles" Target="/ppt/tableStyles.xml" Id="Rab905bd5df164ad1" /><Relationship Type="http://schemas.openxmlformats.org/officeDocument/2006/relationships/slide" Target="/ppt/slides/slide1.xml" Id="R72ee7f0babae48d3" /><Relationship Type="http://schemas.openxmlformats.org/officeDocument/2006/relationships/slide" Target="/ppt/slides/slide2.xml" Id="Re3ca33a2449949ef" /><Relationship Type="http://schemas.openxmlformats.org/officeDocument/2006/relationships/slide" Target="/ppt/slides/slide3.xml" Id="Rb1dcc46e0f46410f" /><Relationship Type="http://schemas.openxmlformats.org/officeDocument/2006/relationships/slide" Target="/ppt/slides/slide4.xml" Id="R038c3342a83a4e6e" /><Relationship Type="http://schemas.openxmlformats.org/officeDocument/2006/relationships/slide" Target="/ppt/slides/slide5.xml" Id="R4f01336784e74952" /><Relationship Type="http://schemas.openxmlformats.org/officeDocument/2006/relationships/slide" Target="/ppt/slides/slide6.xml" Id="R7e1ed778f8a94c33" /><Relationship Type="http://schemas.openxmlformats.org/officeDocument/2006/relationships/slide" Target="/ppt/slides/slide7.xml" Id="Rd4577751a4a14ff9" /><Relationship Type="http://schemas.openxmlformats.org/officeDocument/2006/relationships/slide" Target="/ppt/slides/slide8.xml" Id="R9655560774f54847" /><Relationship Type="http://schemas.openxmlformats.org/officeDocument/2006/relationships/slide" Target="/ppt/slides/slide9.xml" Id="R5110035b4b7847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f691d5f64547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valanche Research">
      <a:dk1>
        <a:srgbClr val="000000"/>
      </a:dk1>
      <a:lt1>
        <a:srgbClr val="FFFFFF"/>
      </a:lt1>
      <a:dk2>
        <a:srgbClr val="23313A"/>
      </a:dk2>
      <a:lt2>
        <a:srgbClr val="DDE8EE"/>
      </a:lt2>
      <a:accent1>
        <a:srgbClr val="1E4E79"/>
      </a:accent1>
      <a:accent2>
        <a:srgbClr val="2A9D8F"/>
      </a:accent2>
      <a:accent3>
        <a:srgbClr val="F2A541"/>
      </a:accent3>
      <a:accent4>
        <a:srgbClr val="D64545"/>
      </a:accent4>
      <a:accent5>
        <a:srgbClr val="5E548E"/>
      </a:accent5>
      <a:accent6>
        <a:srgbClr val="3A7D44"/>
      </a:accent6>
      <a:hlink>
        <a:srgbClr val="1E4E79"/>
      </a:hlink>
      <a:folHlink>
        <a:srgbClr val="5E54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valanche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1689b7dc7541ee" /><Relationship Type="http://schemas.openxmlformats.org/officeDocument/2006/relationships/notesMaster" Target="/ppt/notesMasters/notesMaster1.xml" Id="R10132e098be049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7574bd172f44b5" /><Relationship Type="http://schemas.openxmlformats.org/officeDocument/2006/relationships/notesMaster" Target="/ppt/notesMasters/notesMaster1.xml" Id="R8927362381dc4a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eddc61dfdb466e" /><Relationship Type="http://schemas.openxmlformats.org/officeDocument/2006/relationships/notesMaster" Target="/ppt/notesMasters/notesMaster1.xml" Id="Rb4431d3cb8224c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0889ff76a840e4" /><Relationship Type="http://schemas.openxmlformats.org/officeDocument/2006/relationships/notesMaster" Target="/ppt/notesMasters/notesMaster1.xml" Id="Rdcfefc1d132d4c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193260a83841a1" /><Relationship Type="http://schemas.openxmlformats.org/officeDocument/2006/relationships/notesMaster" Target="/ppt/notesMasters/notesMaster1.xml" Id="Re1d1194a8f2d46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9ee73f3f0e4b92" /><Relationship Type="http://schemas.openxmlformats.org/officeDocument/2006/relationships/notesMaster" Target="/ppt/notesMasters/notesMaster1.xml" Id="R50196cc92fdb49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92816cbfba403c" /><Relationship Type="http://schemas.openxmlformats.org/officeDocument/2006/relationships/notesMaster" Target="/ppt/notesMasters/notesMaster1.xml" Id="Re227639ab79141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fdc0c1ff81492f" /><Relationship Type="http://schemas.openxmlformats.org/officeDocument/2006/relationships/notesMaster" Target="/ppt/notesMasters/notesMaster1.xml" Id="R8b6522dc1b1046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88479cd0a54abe" /><Relationship Type="http://schemas.openxmlformats.org/officeDocument/2006/relationships/notesMaster" Target="/ppt/notesMasters/notesMaster1.xml" Id="Rc8385196694948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proposal, project README, docs/ARCHITECTURE.md, docs/USAGE_CONSTRAINTS.md.</a:t>
            </a:r>
          </a:p>
          <a:p xmlns:a="http://schemas.openxmlformats.org/drawingml/2006/main">
            <a:r>
              <a:t>Frame as a zero-phase academic prototype, not a certified warning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sections 1, 2.1, 3; docs/USAGE_CONSTRAINTS.md.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methodology and project README quick start.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 and docs/DATA_PIPELINE.md.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initial proposal and objectives; project README; docs/DATA_PIPELINE.md; docs/RISK_ENGINE.md.</a:t>
            </a:r>
          </a:p>
          <a:p xmlns:a="http://schemas.openxmlformats.org/drawingml/2006/main">
            <a:r>
              <a:t>The bar chart is a compact count summary for presentation purposes. Global mountain count is described as 65+ in the README/master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sections 3.1, 4.4, 5.2; docs/SCIENTIFIC_VALIDATION.md; docs/USAGE_CONSTRAINTS.md.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 and frontend source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future scope sections and docs/USAGE_CONSTRAINTS.md path to operational credibility.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closing slide to invite questions about workflow, data limitations, and next-phase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c55595e24041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ae61a08d514245" /><Relationship Type="http://schemas.openxmlformats.org/officeDocument/2006/relationships/slideLayout" Target="/ppt/slideLayouts/slideLayout1.xml" Id="R98494394b89840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494394b89840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valanche Research">
      <a:dk1>
        <a:srgbClr val="000000"/>
      </a:dk1>
      <a:lt1>
        <a:srgbClr val="FFFFFF"/>
      </a:lt1>
      <a:dk2>
        <a:srgbClr val="23313A"/>
      </a:dk2>
      <a:lt2>
        <a:srgbClr val="DDE8EE"/>
      </a:lt2>
      <a:accent1>
        <a:srgbClr val="1E4E79"/>
      </a:accent1>
      <a:accent2>
        <a:srgbClr val="2A9D8F"/>
      </a:accent2>
      <a:accent3>
        <a:srgbClr val="F2A541"/>
      </a:accent3>
      <a:accent4>
        <a:srgbClr val="D64545"/>
      </a:accent4>
      <a:accent5>
        <a:srgbClr val="5E548E"/>
      </a:accent5>
      <a:accent6>
        <a:srgbClr val="3A7D44"/>
      </a:accent6>
      <a:hlink>
        <a:srgbClr val="1E4E79"/>
      </a:hlink>
      <a:folHlink>
        <a:srgbClr val="5E54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valanche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0f66e72f34e82" /><Relationship Type="http://schemas.openxmlformats.org/officeDocument/2006/relationships/image" Target="/ppt/media/image.png" Id="R8cced910a4ca43bf" /><Relationship Type="http://schemas.openxmlformats.org/officeDocument/2006/relationships/notesSlide" Target="/ppt/notesSlides/notesSlide1.xml" Id="R47d9924efce349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25a2ad1fd4c8d" /><Relationship Type="http://schemas.openxmlformats.org/officeDocument/2006/relationships/notesSlide" Target="/ppt/notesSlides/notesSlide2.xml" Id="Rbde1a9b1240544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95000fcae49a4" /><Relationship Type="http://schemas.openxmlformats.org/officeDocument/2006/relationships/notesSlide" Target="/ppt/notesSlides/notesSlide3.xml" Id="R148057d9904643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290e83f134dc0" /><Relationship Type="http://schemas.openxmlformats.org/officeDocument/2006/relationships/notesSlide" Target="/ppt/notesSlides/notesSlide4.xml" Id="R7ab5472237a448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e2bb45c7e47ef" /><Relationship Type="http://schemas.openxmlformats.org/officeDocument/2006/relationships/chart" Target="/ppt/slides/charts/chart1.xml" Id="Ra989a9827f67425c" /><Relationship Type="http://schemas.openxmlformats.org/officeDocument/2006/relationships/notesSlide" Target="/ppt/notesSlides/notesSlide5.xml" Id="R0bbeca88bad94b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dbe0aca914c28" /><Relationship Type="http://schemas.openxmlformats.org/officeDocument/2006/relationships/notesSlide" Target="/ppt/notesSlides/notesSlide6.xml" Id="R1244ed9c160143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0b8b06ad74457" /><Relationship Type="http://schemas.openxmlformats.org/officeDocument/2006/relationships/notesSlide" Target="/ppt/notesSlides/notesSlide7.xml" Id="R19db3df2fcea40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db21a9c3a40bd" /><Relationship Type="http://schemas.openxmlformats.org/officeDocument/2006/relationships/notesSlide" Target="/ppt/notesSlides/notesSlide8.xml" Id="Rc7c8ac9ecc3e40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9d0c490f74830" /><Relationship Type="http://schemas.openxmlformats.org/officeDocument/2006/relationships/notesSlide" Target="/ppt/notesSlides/notesSlide9.xml" Id="R449aaec04121473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1E4E79"/>
            </a:solidFill>
          </c:spPr>
          <c:cat>
            <c:strRef>
              <c:f>'Chart Data'!$A$2:$A$5</c:f>
              <c:strCache>
                <c:ptCount val="4"/>
                <c:pt idx="0">
                  <c:v>Proposal inputs</c:v>
                </c:pt>
                <c:pt idx="1">
                  <c:v>Backend feature schema</c:v>
                </c:pt>
                <c:pt idx="2">
                  <c:v>Global mountain CSV</c:v>
                </c:pt>
                <c:pt idx="3">
                  <c:v>Colorado stations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</c:v>
                </c:pt>
                <c:pt idx="1">
                  <c:v>17</c:v>
                </c:pt>
                <c:pt idx="2">
                  <c:v>65</c:v>
                </c:pt>
                <c:pt idx="3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2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AFC"/>
        </a:solidFill>
      </c:spPr>
    </c:plotArea>
    <c:plotVisOnly val="1"/>
  </c:chart>
  <c:spPr>
    <a:solidFill xmlns:a="http://schemas.openxmlformats.org/drawingml/2006/main">
      <a:srgbClr val="F7FA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AFC"/>
            </a:gs>
            <a:gs pos="48000">
              <a:srgbClr val="EAF1F5"/>
            </a:gs>
            <a:gs pos="100000">
              <a:srgbClr val="FFFFFF"/>
            </a:gs>
          </a:gsLst>
          <a:lin ang="2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00077-03DC-4B5D-B559-7EE34CEE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CB99A-537A-42A9-8765-B8649682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Zero Phase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BF82B-097E-4156-9CB0-752B72FF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Smart India Hackathon problem SIH260105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Research decision-support prototype for avalanche risk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0264C-CBD5-4287-A0AC-21B66FB3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143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+ Weather + Terrain + Human Review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ed910a4ca43bf"/>
          <a:stretch xmlns:a="http://schemas.openxmlformats.org/drawingml/2006/main"/>
        </p:blipFill>
        <p:spPr>
          <a:xfrm xmlns:a="http://schemas.openxmlformats.org/drawingml/2006/main">
            <a:off x="7888864" y="1219200"/>
            <a:ext cx="2986523" cy="3143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40A12-E564-4C2E-95C4-BD837363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BMS Institute of Technology and Management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Department of Artificial Intelligence and Machine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C9BBC-A52D-43CD-B9CE-A6A076E7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FC89A-E424-4172-A653-91A98B3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0267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89818-1788-4004-9976-96F2AD05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Problem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9C8B9-F76C-45BC-86F9-AA22F45A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Avalanche assessment requires many changing inputs, but remote mountain data is often incomplete or delayed.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DAA54-3B00-4AAF-ACC2-2BE09462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5C04F-468C-49FE-8833-CC646AA5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9F119-4255-4D2E-8771-B0A36321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Avalanches can block highways, threaten patrol routes, and endanger settlements.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Risk depends on weather, snowpack, slope angle, aspect, and terrain context.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Manual assessment is difficult when conditions change quickly.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A8194-6D84-4BC2-9B6D-7781DF0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B55A3-4AC1-4B60-9850-1496CCEB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Current gaps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99D83-50E3-473C-8EFD-5BF0A65E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Single-parameter checks miss interactions between terrain and storm loading.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Sensor data can be noisy, stale, or missing in remote areas.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Model outputs need explanation before a human reviewer can trust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5E56B-E7FF-4055-9FA1-0E082D02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66875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26363-BA18-44D1-AF15-2577FF1C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526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Project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96560-9D12-4B2D-B9ED-BB10667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Validate environmental observations before prediction.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Estimate avalanche probability using machine-learning models.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Show the risk level, factors, warnings, and limitations in a 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7E14D-6536-4034-A546-2862A108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6375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The goal is decision support for research and review, not autonomous public alerting.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9504D-C933-4BB9-BC39-40E59145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7ED63-06E2-4904-AB27-03E6749A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34031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9202E5-700C-4098-B803-67B9224C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B0636-16BD-4F57-8E08-7CCA5961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An integrated workflow converts weather, snow, and terrain inputs into an explainable risk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458D8-3C3E-4B3B-B4BC-DBCA08C3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1B18D-EDF7-4E90-88CD-00A31CE0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9E3E0-4269-4A1F-AA89-23C635B6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691C4-BEA2-4D16-BA00-5FC75898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Weather, snow, terrain, station telemetry, or CSV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C7310-5BFC-4C95-8318-749A7383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427EC-6CB4-40D0-954C-6621ED34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E23E7-BEDC-40E2-82FF-6EE402EC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41C6F-7E06-4918-9B1B-70AB93FF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03CC7-77B5-4E86-B40D-F93482CD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Column checks, physical bounds, missing values, freshness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D4CD8-628E-4052-B8FD-1CFC0103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EB6B0-65DD-4290-9D4C-CD993DF6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1A69B-8808-4A0A-8A0F-8C93E34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33394-6705-4020-8F47-7236226C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30769-02D6-4E66-AC5E-A7F99E8A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Random Forest and Logistic Regression estimate probability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5B5BF-48A4-4DA1-AE29-1FDEEA92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95051-E06A-4454-A3F1-4FA45731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B4AB7-E825-414C-B260-F4EBFEA8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73548-4D0E-4BD4-9DB5-76778634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Risk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8746E-79F9-4A71-BB10-65B21B4C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LOW, MEDIUM, HIGH plus deterministic safety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F669C-09D2-44B6-89FA-3A76D847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7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FD028-A39B-48D8-BA47-5424A4BB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A539B-3BBE-463D-918D-BBFF0E86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3D686A-3173-4E55-8E3D-381A5782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1FCF4-1286-4752-A5B8-4402F704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Map, analytics, warnings, history, and review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38722-2A54-4721-8A82-3D7079D7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48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Key zero-phase message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A1163-4468-4186-BDB2-D5608E1F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81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project already has the core application structure: FastAPI backend, ML pipeline, React dashboard, dataset handling, and documentation for safety limitations.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8901AF-D4BA-491B-AA58-0A398FDD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58E817-6B83-40D3-9887-A4F9D931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1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6C17E3-B803-4B9D-8E26-A40A35E4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FB619-13FF-4034-A90D-A1461582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backend remains the single source of truth for prediction, thresholds, policy, and provenance.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9647C-CDA5-4ADA-8078-8A02EF62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811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79FE3-8D49-42CF-B652-6641A3C8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95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FA51F-185F-4577-B72F-9990F572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57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Station and spatial YAML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E5928-EFAC-4295-8569-7997FE94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AECD1-8CA6-46D5-A23C-98BC7894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81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13B01-770B-45DC-A456-B4053901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43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SNOTEL or seeded telemetry, validation, SQLite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B7983-E89F-4746-BE66-3C43E555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E0D63-3FB7-4CFF-9562-EB3C99E1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Feature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1D79B-0E3E-47C9-8B66-55A9DC62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Rolling windows, terrain features, canonical 17-feature vector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093C4-7902-457C-9B2A-DC0198E1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FF7CC-A380-4A28-B324-F8C29A06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0EA59-DD74-4461-B20B-627ADBD3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14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Model probability and calibrated score when an artifact is loaded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44A80-4EE9-4F31-AB02-FE87F156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E5B9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3ADB5-1B69-4BD3-BA32-AAABFCE9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386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Risk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28074-9D40-4E34-AB19-993FAF1D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00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Data quality checks and deterministic escalation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54937-243A-450E-BD5F-0BD1398C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9C384-E744-4478-ACAE-286F40CA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24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API and 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28839-B13F-451D-A5A2-C420000A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86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FastAPI endpoints consumed by the React + Leaflet console</a:t>
            </a:r>
          </a:p>
        </p:txBody>
      </p:sp>
      <p:cxnSp>
        <p:nvCxnSpPr>
          <p:cNvPr id="52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90888" y="21336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290888" y="28194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90888" y="3505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290888" y="41910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290888" y="4876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2DC86D-885C-42B6-8FEA-D7DF73D6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0005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DBAFB-AF40-4D19-8858-D12C94F9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716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Design principles in the repo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599E92-4847-4CD4-8D8A-157D61AC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7175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Frontend renders API output and does not recompute risk.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Prediction and policy are separated for auditability.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Missing critical features return INSUFFICIENT_DATA.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Every prediction carries model, dataset, feature, and risk-engine versions.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77DFBC-45A6-4386-827A-3140763F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This architecture supports a demo now and controlled expansion later.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637188-F0DF-45A2-9279-3883F2AC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88C69D-6699-4AF6-8CC5-67B43AB1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8703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3D2E5-E5B9-4BBE-B0B3-C18A9148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Data and Risk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F8715-D7DA-4041-AE8E-F60EFE1E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proposal starts with synthetic academic data, while the repository also includes real research datasets and clear validation caveats.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E736A-B89D-4B38-B588-5FE54DFB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CE770-798D-431B-A831-11738D1B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1E4E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E4E79"/>
                </a:solidFill>
                <a:latin typeface="Arial"/>
                <a:ea typeface="Arial"/>
                <a:cs typeface="Arial"/>
              </a:rPr>
              <a:t>3,000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5420B-DF1F-4ED5-9898-29A5C28A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synthetic rows in the Phase 1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F1295-D907-407F-B3D3-06C11F8C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0CFD8-558C-4B30-9D1F-4C09BF2A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85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65+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C43C3-5C71-498A-A1CE-F5BA03C0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global mountain locations in master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5912A-8E5E-4D0B-946F-22E33208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4CC09-77CD-4EA1-935C-B5A7B823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85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2A54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2A54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CEA4D-26DF-4927-8F1D-17F3D35E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canonical backend model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BE211-4A18-47F2-A3E8-1C92021E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105C8-3FCB-49B0-B7CA-6FB32C17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3A7D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A7D4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EA0E8-26B9-4DFA-8D1F-B344E3C9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configured Colorado SNOTEL stations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952500" y="3429000"/>
          <a:ext xmlns:a="http://schemas.openxmlformats.org/drawingml/2006/main" cx="4953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89a9827f67425c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09D78-C2E3-431F-A4AE-378CA33E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4000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B4165-6FB8-4B18-879A-4D7F6A35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62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Risk 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117B0-0377-46E1-BA04-990CDF1E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900"/>
              </a:spcAft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Probability maps into LOW, MEDIUM, and HIGH bands.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900"/>
              </a:spcAft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Heavy snowfall on steep slopes can force HIGH risk.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900"/>
              </a:spcAft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Stale or missing telemetry is surfaced instead of hidden.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625AA-57C8-4EDC-8642-53565654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1EBD7-45CD-47B8-9E10-217DD7DE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1372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A7AE6-9DC9-453D-BE21-23F4A86D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Machine-Learning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15928-EB0B-409D-AD75-9F88FC1E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project should present model evaluation as research evidence, not operational proof.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4775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81313"/>
                <a:gridCol w="3667125"/>
                <a:gridCol w="3929063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12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zero-phase position</a:t>
                      </a:r>
                    </a:p>
                  </a:txBody>
                  <a:tcPr marL="91440" marR="91440" marT="45720" marB="45720">
                    <a:solidFill>
                      <a:srgbClr val="12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12324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3244"/>
                          </a:solidFill>
                          <a:latin typeface="Arial"/>
                          <a:ea typeface="Arial"/>
                          <a:cs typeface="Arial"/>
                        </a:rPr>
                        <a:t>Models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Random Forest and Logistic Regression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Gives a baseline comparison and interpretable probability output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3244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Accuracy, precision, recall, F1, confusion matrix, ROC-AUC where applicable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Shows the evaluation plan without claiming certified safety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3244"/>
                          </a:solidFill>
                          <a:latin typeface="Arial"/>
                          <a:ea typeface="Arial"/>
                          <a:cs typeface="Arial"/>
                        </a:rPr>
                        <a:t>Known limitation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Synthetic proposal data and limited real validation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Prevents overclaiming during review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3244"/>
                          </a:solidFill>
                          <a:latin typeface="Arial"/>
                          <a:ea typeface="Arial"/>
                          <a:cs typeface="Arial"/>
                        </a:rPr>
                        <a:t>Human role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Qualified users review output before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Keeps the system in decision-support mode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B6886-390E-417E-B393-F5E5A54A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Honest caveat for the panel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C7C66-6271-4D8E-9B72-1E88D03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repository documentation explicitly treats the system as an academic research prototype. Validation must improve before any real-world safety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11ED7-F4CF-4741-B054-7D8351BB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2624B-343F-4B10-A43C-F4EF2CEF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0925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19ABF2-BBA2-4489-8EC5-FB941F44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User-Facing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0122D-825F-45DB-99E0-E597C941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dashboard converts model output into an interface that a reviewer can inspect and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F45B6-914D-4ED7-80B2-61597864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2362200" cy="2476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C7895-F1FD-4FCC-837B-E03B0D67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B5483-B3E3-4AD4-B9D0-83D1D5B1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GIS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9318F-8736-4BEB-A73E-B8664948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241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Leaflet view with terrain and color-coded risk markers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92FFA-EF08-42A7-9B15-D8AAB9C5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62125"/>
            <a:ext cx="2362200" cy="2476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A4553-8155-407F-81BF-F0486B86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62125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228A1-09FB-46C7-9D17-2B82F26E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CSV studio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54148-8325-410B-927A-452B1EE3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241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Batch runs for custom files and the master mountain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61C5B-7A06-4AE5-A27E-1E66DBA7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2362200" cy="2476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D5708-9470-4743-9250-14E96FEE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FE1AD-AAB2-46F5-8B1A-D936D235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D6F2F-70C4-4478-88FD-B0763F49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241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Snowfall, wind, slope, and risk-history 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EBB8E-4851-4D56-AE6F-CDAD36DF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362200" cy="2476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184BA-EA83-4B6B-8CBC-C4238575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90A08-2E53-4E88-9D35-D640308B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Safety panel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C96E6-7324-4FD7-B849-B2081126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241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Warnings, escalation reasons, and non-autonomous disclaimer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9BA39-0F78-4E5C-9C65-107E5C7A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23E76-6978-44D3-8250-31832157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62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Demo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D1C2A-8E3F-4B17-9238-6E2E1FB3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0540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Select a mountain record, run backend prediction, inspect risk level and reasons, then discuss limitations before any decision.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1ACF5-DD00-4EB5-8AE2-DC4091BF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5666A7-DB2B-4120-ACE7-686AAB4E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02390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CE4E93-6159-4DCC-9B34-2346D578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Zero-Phase Work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9BB53-851E-41B5-ADA7-0B936DD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next phase should focus on credibility: better data, stronger validation, and a disciplined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5A6A2-4FE9-469A-B110-A99FA321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71650"/>
            <a:ext cx="819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F5982-9B55-4434-8D6F-30B46F8E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954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E1A34-CDBD-47BB-84F1-AAC5CF76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28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Polish zero-phase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153EA-4C81-4713-A42A-D28E93C4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383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Show workflow, dashboard, and caveats clearly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97CEF-684D-4F63-AE3C-409EF317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819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40F46-9605-4066-A2A1-40D89C2F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717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77F84-4CCA-473C-95C8-2C515FD8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Improve data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DF0F2-7841-4B01-8521-C68AEEFA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14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Add matched negative examples and real telemetry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B8E15-AFF4-44BE-BC50-8B46901E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819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1AAD5-7811-4137-BE7A-FAFFF572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480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9C417-8FD9-4C25-A103-F88F8286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81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Strengthen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CEAA4-1C70-4DE2-815F-07F0EB42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90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Compare against trivial baselines and realistic holdouts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847C5-A20A-46D4-BE02-ED1A054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00550"/>
            <a:ext cx="819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3A7D44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E817A-55DC-4466-8967-C39642A3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243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AF1A3-204B-42E4-B884-CB23783C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7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Extend safely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2C4C4-73C2-4230-A636-CD80C5C1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672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Weather APIs, IoT sensors, satellite/terrain data, RAG guidance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367A5-38A1-4F88-A88E-016F8DC7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72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Success measure for zero phase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23D56-6BF5-419D-A56B-5428DEE7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245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Reviewers should understand the problem, prototype workflow, implemented pieces, and evidence still required.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62ECD-6CBA-4930-803F-E25D0348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B624A-3B08-415C-800B-2A765140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817200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23244"/>
            </a:gs>
            <a:gs pos="60000">
              <a:srgbClr val="1E4E79"/>
            </a:gs>
            <a:gs pos="100000">
              <a:srgbClr val="2A9D8F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D3F9B-C0EB-47F5-BC77-D397FF89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We Are Presenting in Zero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321DE-A668-46C2-929E-F4F00913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66900"/>
            <a:ext cx="7334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12000"/>
              </a:lnSpc>
              <a:spcAft>
                <a:spcPts val="1300"/>
              </a:spcAft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clear avalanche-risk problem statement for SIH260105</a:t>
            </a:r>
          </a:p>
          <a:p xmlns:a="http://schemas.openxmlformats.org/drawingml/2006/main">
            <a:pPr marL="228600" indent="-101600">
              <a:lnSpc>
                <a:spcPct val="112000"/>
              </a:lnSpc>
              <a:spcAft>
                <a:spcPts val="1300"/>
              </a:spcAft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working research architecture with backend, ML pipeline, and dashboard</a:t>
            </a:r>
          </a:p>
          <a:p xmlns:a="http://schemas.openxmlformats.org/drawingml/2006/main">
            <a:pPr marL="228600" indent="-101600">
              <a:lnSpc>
                <a:spcPct val="112000"/>
              </a:lnSpc>
              <a:spcAft>
                <a:spcPts val="1300"/>
              </a:spcAft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explainable risk-assessment flow with human review</a:t>
            </a:r>
          </a:p>
          <a:p xmlns:a="http://schemas.openxmlformats.org/drawingml/2006/main">
            <a:pPr marL="228600" indent="-101600">
              <a:lnSpc>
                <a:spcPct val="112000"/>
              </a:lnSpc>
              <a:spcAft>
                <a:spcPts val="1300"/>
              </a:spcAft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realistic roadmap for data, validation, and future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DA8BC-5D86-4BEB-A9B3-D23A4176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2383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B0C38-8E51-4307-89DE-1D38BA06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28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614AA-5A5D-4A8E-AE90-652EFCE6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EAF1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1F5"/>
                </a:solidFill>
                <a:latin typeface="Arial"/>
                <a:ea typeface="Arial"/>
                <a:cs typeface="Arial"/>
              </a:rPr>
              <a:t>Not a certified avalanche warning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BE374-4A94-47DE-9020-62ADDEE9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47AE2-53DA-45DD-BDE6-4544F9A9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43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DDE8E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8EE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A6F1D-3819-40BB-AC8F-DD4643A3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48732-C1B6-42B4-94CC-41B4DB90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53734852"/>
      </p:ext>
    </p:extLst>
  </p:cSld>
</p:sld>
</file>

<file path=ppt/theme/theme1.xml><?xml version="1.0" encoding="utf-8"?>
<a:theme xmlns:a="http://schemas.openxmlformats.org/drawingml/2006/main" name="ChatGPT">
  <a:themeElements>
    <a:clrScheme name="Avalanche Research">
      <a:dk1>
        <a:srgbClr val="000000"/>
      </a:dk1>
      <a:lt1>
        <a:srgbClr val="FFFFFF"/>
      </a:lt1>
      <a:dk2>
        <a:srgbClr val="23313A"/>
      </a:dk2>
      <a:lt2>
        <a:srgbClr val="DDE8EE"/>
      </a:lt2>
      <a:accent1>
        <a:srgbClr val="1E4E79"/>
      </a:accent1>
      <a:accent2>
        <a:srgbClr val="2A9D8F"/>
      </a:accent2>
      <a:accent3>
        <a:srgbClr val="F2A541"/>
      </a:accent3>
      <a:accent4>
        <a:srgbClr val="D64545"/>
      </a:accent4>
      <a:accent5>
        <a:srgbClr val="5E548E"/>
      </a:accent5>
      <a:accent6>
        <a:srgbClr val="3A7D44"/>
      </a:accent6>
      <a:hlink>
        <a:srgbClr val="1E4E79"/>
      </a:hlink>
      <a:folHlink>
        <a:srgbClr val="5E54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valanche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2026-09-17T13:36:50.2740000Z</dcterms:created>
  <dcterms:modified xsi:type="dcterms:W3CDTF">2026-09-17T13:36:50.2740000Z</dcterms:modified>
</coreProperties>
</file>