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7b06e97a540e2" /><Relationship Type="http://schemas.openxmlformats.org/officeDocument/2006/relationships/extended-properties" Target="/docProps/app.xml" Id="R60d9052f68064379" /><Relationship Type="http://schemas.openxmlformats.org/officeDocument/2006/relationships/officeDocument" Target="/ppt/presentation.xml" Id="R2b386a99a54c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25fbd6da9d4448"/>
  </p:sldMasterIdLst>
  <p:notesMasterIdLst>
    <p:notesMasterId xmlns:r="http://schemas.openxmlformats.org/officeDocument/2006/relationships" r:id="R58f254f869354f74"/>
  </p:notesMasterIdLst>
  <p:sldIdLst>
    <p:sldId xmlns:r="http://schemas.openxmlformats.org/officeDocument/2006/relationships" id="256" r:id="Ref7428c95e2a4bbb"/>
    <p:sldId xmlns:r="http://schemas.openxmlformats.org/officeDocument/2006/relationships" id="257" r:id="R8a161c1616924b6b"/>
    <p:sldId xmlns:r="http://schemas.openxmlformats.org/officeDocument/2006/relationships" id="258" r:id="R54323810515f4fc3"/>
    <p:sldId xmlns:r="http://schemas.openxmlformats.org/officeDocument/2006/relationships" id="259" r:id="R9dce7acee5574b2b"/>
    <p:sldId xmlns:r="http://schemas.openxmlformats.org/officeDocument/2006/relationships" id="260" r:id="R7504890d24164f60"/>
    <p:sldId xmlns:r="http://schemas.openxmlformats.org/officeDocument/2006/relationships" id="261" r:id="Rd65371cc2ffe4c11"/>
    <p:sldId xmlns:r="http://schemas.openxmlformats.org/officeDocument/2006/relationships" id="262" r:id="R8902754179cb411b"/>
    <p:sldId xmlns:r="http://schemas.openxmlformats.org/officeDocument/2006/relationships" id="263" r:id="R94371c1d79e94341"/>
    <p:sldId xmlns:r="http://schemas.openxmlformats.org/officeDocument/2006/relationships" id="264" r:id="R91ddb99dc26b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471da53854a16" /><Relationship Type="http://schemas.openxmlformats.org/officeDocument/2006/relationships/slideMaster" Target="/ppt/slideMasters/slideMaster1.xml" Id="R9a25fbd6da9d4448" /><Relationship Type="http://schemas.openxmlformats.org/officeDocument/2006/relationships/notesMaster" Target="/ppt/notesMasters/notesMaster1.xml" Id="R58f254f869354f74" /><Relationship Type="http://schemas.openxmlformats.org/officeDocument/2006/relationships/presProps" Target="/ppt/presProps.xml" Id="R501ff570a49a49ed" /><Relationship Type="http://schemas.openxmlformats.org/officeDocument/2006/relationships/tableStyles" Target="/ppt/tableStyles.xml" Id="R46b30a39ebf24fe9" /><Relationship Type="http://schemas.openxmlformats.org/officeDocument/2006/relationships/slide" Target="/ppt/slides/slide1.xml" Id="Ref7428c95e2a4bbb" /><Relationship Type="http://schemas.openxmlformats.org/officeDocument/2006/relationships/slide" Target="/ppt/slides/slide2.xml" Id="R8a161c1616924b6b" /><Relationship Type="http://schemas.openxmlformats.org/officeDocument/2006/relationships/slide" Target="/ppt/slides/slide3.xml" Id="R54323810515f4fc3" /><Relationship Type="http://schemas.openxmlformats.org/officeDocument/2006/relationships/slide" Target="/ppt/slides/slide4.xml" Id="R9dce7acee5574b2b" /><Relationship Type="http://schemas.openxmlformats.org/officeDocument/2006/relationships/slide" Target="/ppt/slides/slide5.xml" Id="R7504890d24164f60" /><Relationship Type="http://schemas.openxmlformats.org/officeDocument/2006/relationships/slide" Target="/ppt/slides/slide6.xml" Id="Rd65371cc2ffe4c11" /><Relationship Type="http://schemas.openxmlformats.org/officeDocument/2006/relationships/slide" Target="/ppt/slides/slide7.xml" Id="R8902754179cb411b" /><Relationship Type="http://schemas.openxmlformats.org/officeDocument/2006/relationships/slide" Target="/ppt/slides/slide8.xml" Id="R94371c1d79e94341" /><Relationship Type="http://schemas.openxmlformats.org/officeDocument/2006/relationships/slide" Target="/ppt/slides/slide9.xml" Id="R91ddb99dc26b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ce770b3b90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7b56fad8d4749" /><Relationship Type="http://schemas.openxmlformats.org/officeDocument/2006/relationships/notesMaster" Target="/ppt/notesMasters/notesMaster1.xml" Id="R31ec2b8dea4e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a4013897d34350" /><Relationship Type="http://schemas.openxmlformats.org/officeDocument/2006/relationships/notesMaster" Target="/ppt/notesMasters/notesMaster1.xml" Id="R75a4be0b11c8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dd69cf60b24231" /><Relationship Type="http://schemas.openxmlformats.org/officeDocument/2006/relationships/notesMaster" Target="/ppt/notesMasters/notesMaster1.xml" Id="R8a6cafe323b1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8838936e684c77" /><Relationship Type="http://schemas.openxmlformats.org/officeDocument/2006/relationships/notesMaster" Target="/ppt/notesMasters/notesMaster1.xml" Id="Rcd17361b0432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b9c592138f4fcb" /><Relationship Type="http://schemas.openxmlformats.org/officeDocument/2006/relationships/notesMaster" Target="/ppt/notesMasters/notesMaster1.xml" Id="R8677fa84ad494b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2386b75f6f4771" /><Relationship Type="http://schemas.openxmlformats.org/officeDocument/2006/relationships/notesMaster" Target="/ppt/notesMasters/notesMaster1.xml" Id="R36452ca7660644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1230ed06f45f3" /><Relationship Type="http://schemas.openxmlformats.org/officeDocument/2006/relationships/notesMaster" Target="/ppt/notesMasters/notesMaster1.xml" Id="Rb77bacea19274a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bcfac9ef144d54" /><Relationship Type="http://schemas.openxmlformats.org/officeDocument/2006/relationships/notesMaster" Target="/ppt/notesMasters/notesMaster1.xml" Id="R675e6bcb5269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f7de11e1c4898" /><Relationship Type="http://schemas.openxmlformats.org/officeDocument/2006/relationships/notesMaster" Target="/ppt/notesMasters/notesMaster1.xml" Id="R6a6a7cd5b315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proposal, project README, docs/ARCHITECTURE.md, docs/USAGE_CONSTRAINTS.md.</a:t>
            </a:r>
          </a:p>
          <a:p xmlns:a="http://schemas.openxmlformats.org/drawingml/2006/main">
            <a:r>
              <a:t>Frame as a zero-phase academic prototype, not a certified warning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1, 2.1, 3;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methodology and project README quick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 and docs/DATA_PIPELINE.md.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initial proposal and objectives; project README; docs/DATA_PIPELINE.md; docs/RISK_ENGINE.md.</a:t>
            </a:r>
          </a:p>
          <a:p xmlns:a="http://schemas.openxmlformats.org/drawingml/2006/main">
            <a:r>
              <a:t>The bar chart is a compact count summary for presentation purposes. Global mountain count is described as 65+ in the README/master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3.1, 4.4, 5.2; docs/SCIENTIFIC_VALIDATION.md;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 and frontend source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future scope sections and docs/USAGE_CONSTRAINTS.md path to operational credibility.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closing slide to invite questions about workflow, data limitations, and next-phase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7ef26a414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f9d28243b4247" /><Relationship Type="http://schemas.openxmlformats.org/officeDocument/2006/relationships/slideLayout" Target="/ppt/slideLayouts/slideLayout1.xml" Id="R98df82c2d12845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df82c2d12845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89ad3fcc84a34" /><Relationship Type="http://schemas.openxmlformats.org/officeDocument/2006/relationships/image" Target="/ppt/media/image.png" Id="R04ede64040ad4d93" /><Relationship Type="http://schemas.openxmlformats.org/officeDocument/2006/relationships/notesSlide" Target="/ppt/notesSlides/notesSlide1.xml" Id="R648f74e9c2d8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fadac8d474122" /><Relationship Type="http://schemas.openxmlformats.org/officeDocument/2006/relationships/notesSlide" Target="/ppt/notesSlides/notesSlide2.xml" Id="Rd7392cfceea54e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65e2bb27e4dba" /><Relationship Type="http://schemas.openxmlformats.org/officeDocument/2006/relationships/notesSlide" Target="/ppt/notesSlides/notesSlide3.xml" Id="Rb709e5a1bde94a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a10bb100349a3" /><Relationship Type="http://schemas.openxmlformats.org/officeDocument/2006/relationships/notesSlide" Target="/ppt/notesSlides/notesSlide4.xml" Id="Re72a8a8428fe4f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d17dc3638495c" /><Relationship Type="http://schemas.openxmlformats.org/officeDocument/2006/relationships/chart" Target="/ppt/slides/charts/chart1.xml" Id="Rd10b4f2c8c7f489b" /><Relationship Type="http://schemas.openxmlformats.org/officeDocument/2006/relationships/notesSlide" Target="/ppt/notesSlides/notesSlide5.xml" Id="R265e177bce5b4b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dd9b3cb6940fd" /><Relationship Type="http://schemas.openxmlformats.org/officeDocument/2006/relationships/notesSlide" Target="/ppt/notesSlides/notesSlide6.xml" Id="R2893eeb4d786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a10ba094d4193" /><Relationship Type="http://schemas.openxmlformats.org/officeDocument/2006/relationships/notesSlide" Target="/ppt/notesSlides/notesSlide7.xml" Id="R84ca4beb9c1a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ab3067f48440c" /><Relationship Type="http://schemas.openxmlformats.org/officeDocument/2006/relationships/notesSlide" Target="/ppt/notesSlides/notesSlide8.xml" Id="R4eb84504456b43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63167a67c43be" /><Relationship Type="http://schemas.openxmlformats.org/officeDocument/2006/relationships/notesSlide" Target="/ppt/notesSlides/notesSlide9.xml" Id="R9ee25fba79ce40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1E4E79"/>
            </a:solidFill>
          </c:spPr>
          <c:cat>
            <c:strRef>
              <c:f>'Chart Data'!$A$2:$A$5</c:f>
              <c:strCache>
                <c:ptCount val="4"/>
                <c:pt idx="0">
                  <c:v>Proposal inputs</c:v>
                </c:pt>
                <c:pt idx="1">
                  <c:v>Backend feature schema</c:v>
                </c:pt>
                <c:pt idx="2">
                  <c:v>Global mountain CSV</c:v>
                </c:pt>
                <c:pt idx="3">
                  <c:v>Colorado stations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17</c:v>
                </c:pt>
                <c:pt idx="2">
                  <c:v>65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</c:spPr>
    </c:plotArea>
    <c:plotVisOnly val="1"/>
  </c:chart>
  <c:spPr>
    <a:solidFill xmlns:a="http://schemas.openxmlformats.org/drawingml/2006/main">
      <a:srgbClr val="F7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AFC"/>
            </a:gs>
            <a:gs pos="48000">
              <a:srgbClr val="EAF1F5"/>
            </a:gs>
            <a:gs pos="100000">
              <a:srgbClr val="FFFFFF"/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33754-45D8-4E65-94BD-ABCCC55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D4DBA-E721-4801-8AB1-D5C9135C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Zero Phase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6FA1E-519E-4860-B7A0-C29578A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Smart India Hackathon problem SIH260105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Research decision-support prototype for avalanche risk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DBA1-52A0-4299-B3B4-46FF41C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+ Weather + Terrain + Human Review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de64040ad4d93"/>
          <a:stretch xmlns:a="http://schemas.openxmlformats.org/drawingml/2006/main"/>
        </p:blipFill>
        <p:spPr>
          <a:xfrm xmlns:a="http://schemas.openxmlformats.org/drawingml/2006/main">
            <a:off x="7888864" y="1219200"/>
            <a:ext cx="2986523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627E7-6446-4A68-A035-056A7DF3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BMS Institute of Technology and Management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Department of Artificial Intelligence and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B48D5-B568-4B78-BB25-61553640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BED6C-E0F4-405B-A437-2A1B8AB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2350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1EF36-9859-46C0-B2F2-82D08F7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Problem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6AF9B-B081-4422-85D1-2023AC1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Avalanche assessment requires many changing inputs, but remote mountain data is often incomplete or delayed.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260DA-93BE-46A1-95AB-D483426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2D738-0401-4F6E-B806-8AED14A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EDAE3-496E-4A27-BA11-F17AAE87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Avalanches can block highways, threaten patrol routes, and endanger settlements.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Risk depends on weather, snowpack, slope angle, aspect, and terrain context.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Manual assessment is difficult when conditions change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8051-B59F-49FE-9287-3ED0E46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37532-1E96-4E92-BA18-0B82D2A8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Current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46DB5-7B94-47F1-8E57-CE285FD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Single-parameter checks miss interactions between terrain and storm loading.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Sensor data can be noisy, stale, or missing in remote areas.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Model outputs need explanation before a human reviewer can trust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E67CF-6691-4B72-9781-CBF31E46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B1BBC-B913-4E66-AC03-3CA76C62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56B18-BA0C-497F-8FF5-E9A5DB3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Validate environmental observations before prediction.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Estimate avalanche probability using machine-learning models.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risk level, factors, warnings, and limitations in a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75F5-E543-4C1A-83F6-6D96777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6375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The goal is decision support for research and review, not autonomous public alerting.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7137D-260B-4C8A-9191-2EA7D78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B005B-79AA-4FA6-B07D-23AF03F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5575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4E017-62B7-46D9-B280-B741ACA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00D9-B2AF-48C3-B072-03AD9241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An integrated workflow converts weather, snow, and terrain inputs into an explainable risk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8009F-EDE6-457D-881A-A2B59F3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718A6-E80C-4687-9ABE-A449AAD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1984-C869-4D65-93B2-CB61424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2005A-8ACC-4208-9A09-23639A7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Weather, snow, terrain, station telemetry, or CSV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915D8-920D-457E-93F7-28395BD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6B609-C44F-482E-AE52-6692076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7C6DE-4F89-4C78-B07D-0010969B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DBB4B-33C1-43C9-8E84-E8F9B8F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CEC11-5BB2-492D-9FE5-9EE853DF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Column checks, physical bounds, missing values, freshness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6241C-C2F6-4035-A73C-43FBA27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3D918-B415-4879-A6EF-50BBE09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06893-53EB-4005-9386-41909F26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F047E-87C7-4A42-B53F-A431835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7F068-9F3D-41DD-8B66-463322A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Random Forest and Logistic Regression estimate probability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84C31-75E8-4C41-902F-9E3D436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12B52-F400-49FB-B1E2-8E05F11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71A6D-428B-4807-88D4-C7E3070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26F09-7F28-4A67-974F-06FCAFB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D043C-4B20-48B9-8692-79ECFAD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LOW, MEDIUM, HIGH plus deterministic safety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28862-32A1-4ADE-8932-537BFEC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B57B0-04B2-4962-ADCC-B8FEA247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EF583-BBFC-41EC-9FF0-39F1ADAA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C0C88-762D-4342-8989-81112E29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10412-0132-41E8-9C84-07689FE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Map, analytics, warnings, history, and review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6533B-510A-4099-8BA4-85328018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Key zero-phase message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F578B-1EBB-4678-8837-3D6BC588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81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already has the core application structure: FastAPI backend, ML pipeline, React dashboard, dataset handling, and documentation for safety limitations.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9CC39-4A8A-4BE2-95CC-74408D2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34C1A-4F52-47A5-BD75-DC7F45D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8513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E1437-99BC-49E7-AD80-384AA08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0CE04-DFAF-46C4-B5E3-3F286273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backend remains the single source of truth for prediction, thresholds, policy, and provenance.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67CA5-F4CB-4686-BAFC-F1536F1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4F20-FB52-46E0-AAC5-E94B3EB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6A294-9289-4C02-8223-032EAA5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Station and spatial YAML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3AE3-CED8-4230-9A9E-9003046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D66D8-03C8-4296-AE64-349B728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81653-A026-4EFD-919E-E0DED84F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SNOTEL or seeded telemetry, validation, SQLite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796A9-9FDD-4E92-9D49-A9551A0B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F6D93-9559-4E7E-8FD8-37D05D9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Feature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B5A69-514B-4BEA-AB90-DC495294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Rolling windows, terrain features, canonical 17-feature 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0CB50-8C29-49F2-8638-6A96C741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F355A-B977-41A6-9408-EC55890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5FC04-24AE-461E-993D-C66B6F9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52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Model probability and calibrated score when an artifact is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B771C-4F17-4B6B-9763-F4C2BFD4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E5B9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932C-6855-49CB-A33F-9A2098D9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9A5A6-9332-432B-9153-ECB8808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Data quality checks and deterministic escalation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F8B32-0B5C-4370-AEE2-E843B4F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765D1-1735-4A96-800E-9E4615E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API and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58C1B-CFC1-4E26-9779-10EB324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4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FastAPI endpoints consumed by the React + Leaflet console</a:t>
            </a:r>
          </a:p>
        </p:txBody>
      </p:sp>
      <p:cxnSp>
        <p:nvCxnSpPr>
          <p:cNvPr id="52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90888" y="21336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90888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90888" y="3505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90888" y="4191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290888" y="4876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82534-5A54-4EE0-9F20-B4B3FA5C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0005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C56E3-9A39-42AB-92AF-09745BAD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71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Design principles in the repo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6C05C-3573-4909-B5B6-F504B84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Frontend renders API output and does not recompute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Prediction and policy are separated for auditability.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Missing critical features return INSUFFICIENT_DATA.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prediction carries model, dataset, feature, and risk-engine versions.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F2A0B-9654-4F37-9B3F-7A2CF92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This architecture supports a demo now and controlled expansion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28B14-47B4-4F50-9511-9FBEA93A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57B2EE-DD22-438F-A93C-D91A0AB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1207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549C2-22F5-4E35-BE30-943EABA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Data and Risk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ACCA6-6EDA-4978-9516-9E262C0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proposal starts with synthetic academic data, while the repository also includes real research datasets and clear validation caveats.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0F84B-C862-4E14-9442-9B9EC8F6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3970B-6BBF-4C31-B189-D9BA3D44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E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E4E79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BC744-BD55-4237-8279-5CCED62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synthetic rows in the Phase 1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07574-8399-49B7-9025-AB97CC7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B432A-DB14-4732-B9CF-DC9C0EB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65+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D6CB4-E23E-4DCF-8495-5F771EE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global mountain locations in master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32941-9191-4F59-95D4-DBA995B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5B0E9-452F-48C3-97C0-E3911A2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2A5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A54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10E55-AA61-4044-8CBB-B68DF8D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canonical backend model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43B73-0D65-4D5F-8629-3DE08B7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FD95-2F0F-477B-87C5-73A66875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3A7D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A7D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B145-B3B0-4C7E-A565-C6F0525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configured Colorado SNOTEL stations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52500" y="3429000"/>
          <a:ext xmlns:a="http://schemas.openxmlformats.org/drawingml/2006/main" cx="4953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0b4f2c8c7f489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8FEC7-08B4-4AFF-B1FD-D47BC72E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3C6A1-67FE-4119-9940-A8BF338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E6FB-E849-4611-91F1-078757B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48150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Probability maps into LOW, MEDIUM, and HIGH bands.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Heavy snowfall on steep slopes can force HIGH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Stale or missing telemetry is surfaced instead of hidden.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DC9DF-2DAB-49D0-B705-8C14615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C9B60-A3C0-47C7-935D-23725D1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9974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2AA2B-71C1-4ED0-BB68-14623E3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Machine-Learning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894DB-54F8-4689-B493-7D6A432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project should present model evaluation as research evidence, not operational proof.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81313"/>
                <a:gridCol w="3667125"/>
                <a:gridCol w="3929063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zero-phase position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Random Forest and 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Gives a baseline comparison and interpretable probability output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Accuracy, precision, recall, F1, confusion matrix, ROC-AUC where applicable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Shows the evaluation plan without claiming certified safety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Known limitation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Synthetic proposal data and limited real validation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Prevents overclaiming during review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Human role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Qualified users review output before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Keeps the system in decision-support mode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3D65-9B53-4A73-98BF-E03DFA11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Honest caveat for the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A1D7B-1EBD-4910-B5CB-16F3C3C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repository documentation explicitly treats the system as an academic research prototype. Validation must improve before any real-world safety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6E015-C3D3-4BA1-B415-025F68F8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A854C-22C4-46ED-BF35-99E728D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359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48B9A-2F31-4E09-96A9-0B37525D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User-Facing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E5761-4CE4-4E9D-A180-B12E47A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dashboard converts model output into an interface that a reviewer can inspect and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0D402-DCCD-4F7A-A877-6E9D17D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F8556-BE86-46EA-8244-BF65F0B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64F3A-F9A2-40F4-938A-E14A902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GIS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967A4-6A43-4828-BE86-FDE837A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Leaflet view with terrain and color-coded risk markers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BC17E-EC4B-42BC-A0CB-476DE36D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39B8D-50B7-47B9-8172-5B584548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C8E11-D526-4B62-BE13-F2A7501B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CSV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37607-49CB-4384-8386-EFFEFFF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Batch runs for custom files and the master mountain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DCEB2-DCF2-41E1-8360-A01F56B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EF080-7E71-46BF-9F75-6B98842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9A839-DA50-45FE-B45C-6A0CFC9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B2D6E-27BF-464E-A61C-A0DFA74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Snowfall, wind, slope, and risk-history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47FB8-5FB2-4F48-BA8F-485F4C9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AC674-B7D0-4DBC-BD30-ED826A1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B370C-03C5-468B-B90A-33CD72B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Safety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E3B41-AF89-4FEA-9ED5-9AD0F9D6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Warnings, escalation reasons, and non-autonomous disclaimer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47118-4523-4486-ADBE-80BE61BF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D63FF-6360-4353-83D6-01AE862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62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Demo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4060F-40A4-4D21-87F8-2870F41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Upload or select a mountain record, run prediction through the backend, inspect risk level and reasons, then discuss limitations before any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0C9A7-0263-4310-9982-39B224A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2F26B-5CEB-46A8-8B4F-91E457B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0133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9466A-EBD4-42DE-84A3-43660B26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Zero-Phase Work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CACC4-84BA-4C5C-B8D8-0438D96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next phase should focus on credibility: better data, stronger validation, and a disciplined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B4C5-6B3A-4F11-8A60-A862068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716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BC08-8270-45AA-8A6F-B335C63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954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5585A-473A-4F3F-AFB7-E2687725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Polish zero-phase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7EF7-6E9B-4B7A-AA6F-A091C78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Show workflow, dashboard, and caveats clearly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D99DC-8577-4D06-89CC-55D770C7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4C95E-96F8-4A52-A173-695295A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10B3F-CB64-432F-97E8-4C711AD4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Improve data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FEB4F-4E50-43C8-BC43-09E9163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Add matched negative examples and real telemetry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A1074-8A1F-4AF7-A010-77000D0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4FD0F-BD47-46E0-B584-520D0B2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480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8B28-1DAF-4AC1-B826-9475B155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Strengthen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C3F91-387C-4D23-8E4C-2B8DE06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90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Compare against trivial baselines and realistic holdouts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D6F55-1771-4A3D-A754-7A7592A1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711FB-0578-4E65-BB4B-B429FC6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5259F-D2EC-4970-A540-24974D4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Extend safely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68ED1-8081-4495-8B75-5934E96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67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 APIs, IoT sensors, satellite/terrain data, RAG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CDC31-6364-4F02-8D6E-8C8659F4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Success measure for zero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5FCB3-1F61-44AF-A22F-F91A341F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Reviewers should understand the problem, the prototype workflow, what has been implemented, and what evidence is still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86ECF-67FA-47E7-BEEA-6A37D774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76E98-5595-4DD3-A1BF-01868A2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3094656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3244"/>
            </a:gs>
            <a:gs pos="60000">
              <a:srgbClr val="1E4E79"/>
            </a:gs>
            <a:gs pos="100000">
              <a:srgbClr val="2A9D8F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D7923-4B8B-44A6-8201-7442A4E8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Are Presenting in Zero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5FF7C-E551-46EE-B4C4-A6FE472D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334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avalanche-risk problem statement for SIH260105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research architecture with backend, ML pipeline, and dashboard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explainable risk-assessment flow with human review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realistic roadmap for data, validation, and future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40710-4327-4E54-BCDF-1CA2AA13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238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65B1-FF94-4EF4-ACC5-E911B130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7C902-2F50-4FEF-8EC0-F7646F5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EAF1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1F5"/>
                </a:solidFill>
                <a:latin typeface="Arial"/>
                <a:ea typeface="Arial"/>
                <a:cs typeface="Arial"/>
              </a:rPr>
              <a:t>Not a certified avalanche warning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0B030-23B5-469B-B47E-5D2210D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2CE50-64A2-4EA1-B026-15216FFF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DE8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8EE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B9477-7115-4DA7-959F-2BA4FC7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121BD-A601-440D-882E-E20DE60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6928062"/>
      </p:ext>
    </p:extLst>
  </p:cSld>
</p:sld>
</file>

<file path=ppt/theme/theme1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2026-09-17T13:17:19.5770000Z</dcterms:created>
  <dcterms:modified xsi:type="dcterms:W3CDTF">2026-09-17T13:17:19.5770000Z</dcterms:modified>
</coreProperties>
</file>