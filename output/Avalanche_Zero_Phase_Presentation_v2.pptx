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12a8ff5b8f476d" /><Relationship Type="http://schemas.openxmlformats.org/officeDocument/2006/relationships/extended-properties" Target="/docProps/app.xml" Id="R11fce5f5a6064538" /><Relationship Type="http://schemas.openxmlformats.org/officeDocument/2006/relationships/officeDocument" Target="/ppt/presentation.xml" Id="Rbb2cb51f0df1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e07d73c35e4be2"/>
  </p:sldMasterIdLst>
  <p:notesMasterIdLst>
    <p:notesMasterId xmlns:r="http://schemas.openxmlformats.org/officeDocument/2006/relationships" r:id="R7f29e771000c4cec"/>
  </p:notesMasterIdLst>
  <p:sldIdLst>
    <p:sldId xmlns:r="http://schemas.openxmlformats.org/officeDocument/2006/relationships" id="256" r:id="R6ae53c74eac94fd7"/>
    <p:sldId xmlns:r="http://schemas.openxmlformats.org/officeDocument/2006/relationships" id="257" r:id="R72da4a424da94800"/>
    <p:sldId xmlns:r="http://schemas.openxmlformats.org/officeDocument/2006/relationships" id="258" r:id="R6cdd905e3db54ff1"/>
    <p:sldId xmlns:r="http://schemas.openxmlformats.org/officeDocument/2006/relationships" id="259" r:id="R3279938fdecc4549"/>
    <p:sldId xmlns:r="http://schemas.openxmlformats.org/officeDocument/2006/relationships" id="260" r:id="Rf94099ef76204401"/>
    <p:sldId xmlns:r="http://schemas.openxmlformats.org/officeDocument/2006/relationships" id="261" r:id="R3b82c5266b754272"/>
    <p:sldId xmlns:r="http://schemas.openxmlformats.org/officeDocument/2006/relationships" id="262" r:id="R5ef015c2878e424e"/>
    <p:sldId xmlns:r="http://schemas.openxmlformats.org/officeDocument/2006/relationships" id="263" r:id="R3ba403163f91430e"/>
    <p:sldId xmlns:r="http://schemas.openxmlformats.org/officeDocument/2006/relationships" id="264" r:id="R95663dd892284e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dec723284d48dd" /><Relationship Type="http://schemas.openxmlformats.org/officeDocument/2006/relationships/slideMaster" Target="/ppt/slideMasters/slideMaster1.xml" Id="Re8e07d73c35e4be2" /><Relationship Type="http://schemas.openxmlformats.org/officeDocument/2006/relationships/notesMaster" Target="/ppt/notesMasters/notesMaster1.xml" Id="R7f29e771000c4cec" /><Relationship Type="http://schemas.openxmlformats.org/officeDocument/2006/relationships/presProps" Target="/ppt/presProps.xml" Id="Rb90b8a621a714975" /><Relationship Type="http://schemas.openxmlformats.org/officeDocument/2006/relationships/tableStyles" Target="/ppt/tableStyles.xml" Id="R495fddba454c4277" /><Relationship Type="http://schemas.openxmlformats.org/officeDocument/2006/relationships/slide" Target="/ppt/slides/slide1.xml" Id="R6ae53c74eac94fd7" /><Relationship Type="http://schemas.openxmlformats.org/officeDocument/2006/relationships/slide" Target="/ppt/slides/slide2.xml" Id="R72da4a424da94800" /><Relationship Type="http://schemas.openxmlformats.org/officeDocument/2006/relationships/slide" Target="/ppt/slides/slide3.xml" Id="R6cdd905e3db54ff1" /><Relationship Type="http://schemas.openxmlformats.org/officeDocument/2006/relationships/slide" Target="/ppt/slides/slide4.xml" Id="R3279938fdecc4549" /><Relationship Type="http://schemas.openxmlformats.org/officeDocument/2006/relationships/slide" Target="/ppt/slides/slide5.xml" Id="Rf94099ef76204401" /><Relationship Type="http://schemas.openxmlformats.org/officeDocument/2006/relationships/slide" Target="/ppt/slides/slide6.xml" Id="R3b82c5266b754272" /><Relationship Type="http://schemas.openxmlformats.org/officeDocument/2006/relationships/slide" Target="/ppt/slides/slide7.xml" Id="R5ef015c2878e424e" /><Relationship Type="http://schemas.openxmlformats.org/officeDocument/2006/relationships/slide" Target="/ppt/slides/slide8.xml" Id="R3ba403163f91430e" /><Relationship Type="http://schemas.openxmlformats.org/officeDocument/2006/relationships/slide" Target="/ppt/slides/slide9.xml" Id="R95663dd892284e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86a3e0f81a45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valanche Research">
      <a:dk1>
        <a:srgbClr val="000000"/>
      </a:dk1>
      <a:lt1>
        <a:srgbClr val="FFFFFF"/>
      </a:lt1>
      <a:dk2>
        <a:srgbClr val="23313A"/>
      </a:dk2>
      <a:lt2>
        <a:srgbClr val="DDE8EE"/>
      </a:lt2>
      <a:accent1>
        <a:srgbClr val="1E4E79"/>
      </a:accent1>
      <a:accent2>
        <a:srgbClr val="2A9D8F"/>
      </a:accent2>
      <a:accent3>
        <a:srgbClr val="F2A541"/>
      </a:accent3>
      <a:accent4>
        <a:srgbClr val="D64545"/>
      </a:accent4>
      <a:accent5>
        <a:srgbClr val="5E548E"/>
      </a:accent5>
      <a:accent6>
        <a:srgbClr val="3A7D44"/>
      </a:accent6>
      <a:hlink>
        <a:srgbClr val="1E4E79"/>
      </a:hlink>
      <a:folHlink>
        <a:srgbClr val="5E54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valanche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afe322f02141f1" /><Relationship Type="http://schemas.openxmlformats.org/officeDocument/2006/relationships/notesMaster" Target="/ppt/notesMasters/notesMaster1.xml" Id="Rf9037b71a1be4c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06e9034208454e" /><Relationship Type="http://schemas.openxmlformats.org/officeDocument/2006/relationships/notesMaster" Target="/ppt/notesMasters/notesMaster1.xml" Id="R58217062e54640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1696323fa04b50" /><Relationship Type="http://schemas.openxmlformats.org/officeDocument/2006/relationships/notesMaster" Target="/ppt/notesMasters/notesMaster1.xml" Id="R557de199451348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144eb43d4143af" /><Relationship Type="http://schemas.openxmlformats.org/officeDocument/2006/relationships/notesMaster" Target="/ppt/notesMasters/notesMaster1.xml" Id="R3ac774d411b34e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6978b85e2c47c6" /><Relationship Type="http://schemas.openxmlformats.org/officeDocument/2006/relationships/notesMaster" Target="/ppt/notesMasters/notesMaster1.xml" Id="Rca56dff48ae04e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bcd8be92614c65" /><Relationship Type="http://schemas.openxmlformats.org/officeDocument/2006/relationships/notesMaster" Target="/ppt/notesMasters/notesMaster1.xml" Id="Rc06fbeeb87034e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917f00e49d4363" /><Relationship Type="http://schemas.openxmlformats.org/officeDocument/2006/relationships/notesMaster" Target="/ppt/notesMasters/notesMaster1.xml" Id="R53b3e7a266ac47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206cc3623d4e2e" /><Relationship Type="http://schemas.openxmlformats.org/officeDocument/2006/relationships/notesMaster" Target="/ppt/notesMasters/notesMaster1.xml" Id="R18c1b99d50994b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739ac404484981" /><Relationship Type="http://schemas.openxmlformats.org/officeDocument/2006/relationships/notesMaster" Target="/ppt/notesMasters/notesMaster1.xml" Id="Rde09ee05f1c348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proposal, project README, docs/ARCHITECTURE.md, docs/USAGE_CONSTRAINTS.md.</a:t>
            </a:r>
          </a:p>
          <a:p xmlns:a="http://schemas.openxmlformats.org/drawingml/2006/main">
            <a:r>
              <a:t>Frame as a zero-phase academic prototype, not a certified warning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sections 1, 2.1, 3; docs/USAGE_CONSTRAINTS.md.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methodology and project README quick 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 and docs/DATA_PIPELINE.md.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initial proposal and objectives; project README; docs/DATA_PIPELINE.md; docs/RISK_ENGINE.md.</a:t>
            </a:r>
          </a:p>
          <a:p xmlns:a="http://schemas.openxmlformats.org/drawingml/2006/main">
            <a:r>
              <a:t>The bar chart is a compact count summary for presentation purposes. Global mountain count is described as 65+ in the README/master 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sections 3.1, 4.4, 5.2; docs/SCIENTIFIC_VALIDATION.md; docs/USAGE_CONSTRAINTS.md.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 and frontend source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DOCX future scope sections and docs/USAGE_CONSTRAINTS.md path to operational credibility.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closing slide to invite questions about workflow, data limitations, and next-phase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822176bd94e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3b6b6c9ff442af" /><Relationship Type="http://schemas.openxmlformats.org/officeDocument/2006/relationships/slideLayout" Target="/ppt/slideLayouts/slideLayout1.xml" Id="Rc2fccc9ba81b43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fccc9ba81b43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valanche Research">
      <a:dk1>
        <a:srgbClr val="000000"/>
      </a:dk1>
      <a:lt1>
        <a:srgbClr val="FFFFFF"/>
      </a:lt1>
      <a:dk2>
        <a:srgbClr val="23313A"/>
      </a:dk2>
      <a:lt2>
        <a:srgbClr val="DDE8EE"/>
      </a:lt2>
      <a:accent1>
        <a:srgbClr val="1E4E79"/>
      </a:accent1>
      <a:accent2>
        <a:srgbClr val="2A9D8F"/>
      </a:accent2>
      <a:accent3>
        <a:srgbClr val="F2A541"/>
      </a:accent3>
      <a:accent4>
        <a:srgbClr val="D64545"/>
      </a:accent4>
      <a:accent5>
        <a:srgbClr val="5E548E"/>
      </a:accent5>
      <a:accent6>
        <a:srgbClr val="3A7D44"/>
      </a:accent6>
      <a:hlink>
        <a:srgbClr val="1E4E79"/>
      </a:hlink>
      <a:folHlink>
        <a:srgbClr val="5E54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valanche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12dc850c24eb6" /><Relationship Type="http://schemas.openxmlformats.org/officeDocument/2006/relationships/image" Target="/ppt/media/image.png" Id="Rb25dc23fd21f41e3" /><Relationship Type="http://schemas.openxmlformats.org/officeDocument/2006/relationships/notesSlide" Target="/ppt/notesSlides/notesSlide1.xml" Id="R64371acb941a41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3585d776c495c" /><Relationship Type="http://schemas.openxmlformats.org/officeDocument/2006/relationships/notesSlide" Target="/ppt/notesSlides/notesSlide2.xml" Id="Raae2ebac73544f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864c6888b4820" /><Relationship Type="http://schemas.openxmlformats.org/officeDocument/2006/relationships/notesSlide" Target="/ppt/notesSlides/notesSlide3.xml" Id="R4d6f400a87e74e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61a762a844c89" /><Relationship Type="http://schemas.openxmlformats.org/officeDocument/2006/relationships/notesSlide" Target="/ppt/notesSlides/notesSlide4.xml" Id="R826b82f379fa45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25b1e578a48d0" /><Relationship Type="http://schemas.openxmlformats.org/officeDocument/2006/relationships/chart" Target="/ppt/slides/charts/chart1.xml" Id="R71b30957468b4645" /><Relationship Type="http://schemas.openxmlformats.org/officeDocument/2006/relationships/notesSlide" Target="/ppt/notesSlides/notesSlide5.xml" Id="Rdb486663b49944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9353fed324ed3" /><Relationship Type="http://schemas.openxmlformats.org/officeDocument/2006/relationships/notesSlide" Target="/ppt/notesSlides/notesSlide6.xml" Id="R288955c3311242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42fdc46f74daf" /><Relationship Type="http://schemas.openxmlformats.org/officeDocument/2006/relationships/notesSlide" Target="/ppt/notesSlides/notesSlide7.xml" Id="Ra7b9ea9cff9945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2e0b13b1c4506" /><Relationship Type="http://schemas.openxmlformats.org/officeDocument/2006/relationships/notesSlide" Target="/ppt/notesSlides/notesSlide8.xml" Id="R1e198b62afe742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72baf3f6a48e8" /><Relationship Type="http://schemas.openxmlformats.org/officeDocument/2006/relationships/notesSlide" Target="/ppt/notesSlides/notesSlide9.xml" Id="R8f9b06f8402f4f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1E4E79"/>
            </a:solidFill>
          </c:spPr>
          <c:cat>
            <c:strRef>
              <c:f>'Chart Data'!$A$2:$A$5</c:f>
              <c:strCache>
                <c:ptCount val="4"/>
                <c:pt idx="0">
                  <c:v>Proposal inputs</c:v>
                </c:pt>
                <c:pt idx="1">
                  <c:v>Backend feature schema</c:v>
                </c:pt>
                <c:pt idx="2">
                  <c:v>Global mountain CSV</c:v>
                </c:pt>
                <c:pt idx="3">
                  <c:v>Colorado stations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</c:v>
                </c:pt>
                <c:pt idx="1">
                  <c:v>17</c:v>
                </c:pt>
                <c:pt idx="2">
                  <c:v>65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2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AFC"/>
        </a:solidFill>
      </c:spPr>
    </c:plotArea>
    <c:plotVisOnly val="1"/>
  </c:chart>
  <c:spPr>
    <a:solidFill xmlns:a="http://schemas.openxmlformats.org/drawingml/2006/main">
      <a:srgbClr val="F7FA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AFC"/>
            </a:gs>
            <a:gs pos="48000">
              <a:srgbClr val="EAF1F5"/>
            </a:gs>
            <a:gs pos="100000">
              <a:srgbClr val="FFFFFF"/>
            </a:gs>
          </a:gsLst>
          <a:lin ang="2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C5140-9D17-497D-840E-595CB6CC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64FBA-9113-4CF2-AD11-1A2FA02A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Zero Phase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CB739-7B24-4581-BC86-7269BED3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Smart India Hackathon problem SIH260105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Research decision-support prototype for avalanche risk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DFA51-CED6-4772-8550-C05ACBDA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+ Weather + Terrain + Human Review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dc23fd21f41e3"/>
          <a:stretch xmlns:a="http://schemas.openxmlformats.org/drawingml/2006/main"/>
        </p:blipFill>
        <p:spPr>
          <a:xfrm xmlns:a="http://schemas.openxmlformats.org/drawingml/2006/main">
            <a:off x="7888864" y="1219200"/>
            <a:ext cx="2986523" cy="3143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F9F76-D56B-4FA9-91B4-2EC6C19C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BMS Institute of Technology and Management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Department of Artificial Intelligence and Machine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1F80D-15F5-4493-87FF-AE1FCA1B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C8D09-738C-4E57-9138-7C81E546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2081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4CAF9-435E-4045-A1FF-07E077CE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Problem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53BCF-1C12-4F8D-8E78-CA73301F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Avalanche assessment requires many changing inputs, but remote mountain data is often incomplete or delayed.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0C57E-E92D-4C02-AEFC-DB79D924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672AB-9A0D-4B12-9FAB-8E2B3740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52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249B7-F9A6-48E2-9F11-2CC83E8A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Avalanches can block highways, threaten patrol routes, and endanger settlements.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Risk depends on weather, snowpack, slope angle, aspect, and terrain context.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Manual assessment is difficult when conditions change quickly.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330C3-12BD-479B-9C00-3B308451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63D1A-F73B-4FE5-A467-A7A7E674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Current gaps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11575-F1AC-4CA5-851E-ED95AAE5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Single-parameter checks miss interactions between terrain and storm loading.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Sensor data can be noisy, stale, or missing in remote areas.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Model outputs need explanation before a human reviewer can trust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EDDC6-C0B3-4044-84AD-7D4D006D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66875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01288-E8D2-4EA7-9E64-2E9BB3D2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52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Project 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7DB28-CD93-4C3A-9A2C-2534B62E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Validate environmental observations before prediction.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Estimate avalanche probability using machine-learning models.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Show the risk level, factors, warnings, and limitations in a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F0EF2-F3D6-4042-A8BE-586437B7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6375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The goal is decision support for research and review, not autonomous public alerting.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F54C4-3DB6-4441-A971-41BFD7E1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D1180-6825-43EE-BF18-B0EFAAB3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5684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0BA81-BB8A-48CE-9CD8-A88DDB56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B86E0-62B2-4199-AD9E-BC39FA19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An integrated workflow converts weather, snow, and terrain inputs into an explainable risk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890AD-66FA-45D4-B5A3-60937E67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3CAB4-04F0-49A6-8D23-53AF90CA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2D019-CBB6-42E4-AC78-2349E2E9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216BE-6807-408B-8FF3-63849BE0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Weather, snow, terrain, station telemetry, or CSV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F0AC6-B479-4523-81C7-91A9F01E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407B1-C0AD-4090-B7D9-2601D03D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93839-0B6A-4E9D-BA3E-86876976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FECA5-7923-4ADB-BD89-C12D0283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10ECF-C7B0-4177-A37D-D6829327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Column checks, physical bounds, missing values, freshness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BC63A-595D-4332-8C06-A5AC931B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B3746-D5DC-4AEC-904F-556387B3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A480D-CC66-4E5C-A24C-2B955516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7ABD8-6EA8-4E2D-9249-71053839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7A67A-BB7D-480A-B3C9-3B5ECB69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Random Forest and Logistic Regression estimate probability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4CA19-5B76-478C-9DB8-976047EF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3EB6C-4D7A-4134-BFDA-FFA6DC07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8818C-564A-49F0-8E55-C8D693DE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B4D7F-D5E0-4D76-9724-EAC50D2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Risk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5679F-2F1F-479A-860D-DE35AB75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LOW, MEDIUM, HIGH plus deterministic safety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E9459-AEDB-4C83-850B-77776991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7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9BC61-752B-4753-A501-656AA569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764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E41C2-CF7C-4E0B-96A2-06BBA60D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05050"/>
            <a:ext cx="4000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0A333-7B84-4066-875F-BCD8E646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F738FB-E567-48A6-A43F-D32E22EB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575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112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Map, analytics, warnings, history, and review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07171B-90B6-47A0-84C1-76D605FA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8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Key zero-phase message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8596A-73B7-49D3-BD1E-2481D7CD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81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project already has the core application structure: FastAPI backend, ML pipeline, React dashboard, dataset handling, and documentation for safety limitations.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7DA319-6AC7-418A-8D6F-D89FD641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754971-A2A2-4F47-B0A0-C1ABC316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47549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09C0BE-D7C6-4F4B-B2F8-5767D642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99750-F3C7-4ACA-839D-2B74C903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backend remains the single source of truth for prediction, thresholds, policy, and provenance.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13147-55B5-4F0C-A379-3435C90E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811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775C3-7D58-4E66-A40B-D7934D7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95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F7A4C-EFA5-411D-A636-9083F264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57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Station and spatial YAML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52241-B417-4B43-9664-1ED3A57F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42EED-42A0-4BB4-A3F6-96B19B9C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96E31-6330-4E2A-8360-5B539510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43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SNOTEL or seeded telemetry, validation, SQLite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E1EBC-EFB6-482F-96CC-A706FCDE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B0C13-FAB6-42EB-B158-DFD60BF8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Feature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6A1C9-A868-4441-BB94-BDF88E86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Rolling windows, terrain features, canonical 17-feature vector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C81F0-73F4-4E54-8831-45615A7B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ACD14-FA74-456B-8519-41695941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1982B-49A6-4D1B-8120-B39F9A20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14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Model probability and calibrated score when an artifact is loaded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5B235-B0CC-45BE-B6E9-5069BC3E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E5B9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4BD3F-520D-40E4-B2CF-E199B45A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Risk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107F3-9166-4491-8CA4-3616946E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00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Data quality checks and deterministic escalation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87288-0FA0-43FB-8085-05F69344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4333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5028B-6E43-4745-96A2-412A2F20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244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API and 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CDA22-F68E-42FB-9E94-CF0086C4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863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FastAPI endpoints consumed by the React + Leaflet console</a:t>
            </a:r>
          </a:p>
        </p:txBody>
      </p:sp>
      <p:cxnSp>
        <p:nvCxnSpPr>
          <p:cNvPr id="52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90888" y="21336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90888" y="28194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90888" y="3505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290888" y="41910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290888" y="4876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7DF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13DE4-F115-4636-A4AC-7CE9D639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00050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553A36-2360-49D8-888A-4084EA41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716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Design principles in the repo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C066A4-F260-4389-9D5D-99B473A7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Frontend renders API output and does not recompute risk.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Prediction and policy are separated for auditability.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Missing critical features return INSUFFICIENT_DATA.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Every prediction carries model, dataset, feature, and risk-engine versions.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DB3B5-3EBF-4E29-8E66-0573D27A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This architecture supports a demo now and controlled expansion later.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13B221-8A8B-494C-832D-43D38D1E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87F90D-735A-4726-9EC6-FB08C1E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3341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4E8CB-826B-4D5C-ABDD-900A0FC2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Data and Risk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43ACB-004F-4CDA-8572-BEDC6B6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proposal starts with synthetic academic data, while the repository also includes real research datasets and clear validation caveats.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31E9B-AAA5-4001-8D56-438EBD12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4914E-5B7F-49C5-8D7B-8461055B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1E4E7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E4E79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AD584-1325-448F-9F19-423BA8B8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synthetic rows in the Phase 1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38B27-CA56-4E98-B031-114AF7F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816B8-F0ED-4CAF-9FCC-1A4968D8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65+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4F431-6626-4358-AA66-1099468A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global mountain locations in master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60035-32E2-4387-9F82-0B008039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51564-B979-47D1-B162-45E66533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F2A54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2A54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07B90-631E-4F78-B88F-655677CD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canonical backend model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CFB99-E7CA-473D-A734-8DE44014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18F40-8BF7-4CBA-8E7B-0B317039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3A7D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A7D4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82307-1AEF-42ED-8D53-660EC2F4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24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configured Colorado SNOTEL stations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952500" y="3429000"/>
          <a:ext xmlns:a="http://schemas.openxmlformats.org/drawingml/2006/main" cx="4953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b30957468b4645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ED0DE-790B-48E0-B620-48F35C7F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4000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9347A-9FF9-4083-9842-F20506C7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76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Risk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3F4DD-2B5B-4321-A325-871A0895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48150"/>
            <a:ext cx="323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Probability maps into LOW, MEDIUM, and HIGH bands.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Heavy snowfall on steep slopes can force HIGH risk.</a:t>
            </a:r>
          </a:p>
          <a:p xmlns:a="http://schemas.openxmlformats.org/drawingml/2006/main">
            <a:pPr marL="228600" indent="-101600">
              <a:lnSpc>
                <a:spcPct val="108000"/>
              </a:lnSpc>
              <a:spcAft>
                <a:spcPts val="700"/>
              </a:spcAft>
              <a:buNone/>
              <a:defRPr sz="135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02A"/>
                </a:solidFill>
                <a:latin typeface="Arial"/>
                <a:ea typeface="Arial"/>
                <a:cs typeface="Arial"/>
              </a:rPr>
              <a:t>Stale or missing telemetry is surfaced instead of hidden.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C7C33-34FF-4A81-B3E2-12570531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4B2D3-88C8-4A12-AB3E-04F2FC1A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7957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8DBAE-72B3-4FC2-9F31-735559D6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Machine-Learning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3CC86-417B-47A3-8190-C11BA622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project should present model evaluation as research evidence, not operational proof.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4775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81313"/>
                <a:gridCol w="3667125"/>
                <a:gridCol w="3929063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12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zero-phase position</a:t>
                      </a:r>
                    </a:p>
                  </a:txBody>
                  <a:tcPr marL="91440" marR="91440" marT="45720" marB="45720">
                    <a:solidFill>
                      <a:srgbClr val="12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matters</a:t>
                      </a:r>
                    </a:p>
                  </a:txBody>
                  <a:tcPr marL="91440" marR="91440" marT="45720" marB="45720">
                    <a:solidFill>
                      <a:srgbClr val="12324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Models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Random Forest and Logistic Regression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Gives a baseline comparison and interpretable probability output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Accuracy, precision, recall, F1, confusion matrix, ROC-AUC where applicable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Shows the evaluation plan without claiming certified safety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Known limitation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Synthetic proposal data and limited real validation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Prevents overclaiming during review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23244"/>
                          </a:solidFill>
                          <a:latin typeface="Arial"/>
                          <a:ea typeface="Arial"/>
                          <a:cs typeface="Arial"/>
                        </a:rPr>
                        <a:t>Human role</a:t>
                      </a:r>
                    </a:p>
                  </a:txBody>
                  <a:tcPr marL="91440" marR="91440" marT="45720" marB="45720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Qualified users review output before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202A"/>
                          </a:solidFill>
                          <a:latin typeface="Arial"/>
                          <a:ea typeface="Arial"/>
                          <a:cs typeface="Arial"/>
                        </a:rPr>
                        <a:t>Keeps the system in decision-support mode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0CE7F-FBE6-4601-AD89-0383AA9F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Honest caveat for the panel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85970-084F-45FA-832D-CFAFBDA9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repository documentation explicitly treats the system as an academic research prototype. Validation must improve before any real-world safety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CFBD4-A350-4672-9752-DC42EAFC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C1933-C854-4446-829B-9844DE92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128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F04B3D-BCBC-40A2-AA1E-C5A84467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User-Facing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CD214-110B-46E2-A01C-047606F6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dashboard converts model output into an interface that a reviewer can inspect and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697CB-3A34-4400-8567-5820CBB0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C8B1F-2E5C-4675-904A-9FB45359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FF76B-25ED-4CF6-A6F1-1AC76F62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GIS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13CA9-13DC-4BB4-8BD9-E6CEF631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Leaflet view with terrain and color-coded risk markers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E0999-2774-4E80-AE3F-040933AE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C3C6D-9562-4A68-A0EB-9C8E6C4C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4C5CF-F30C-49BC-A1EE-4F4F2630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CSV studio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E6A3D-41D1-4261-8018-A0D852DF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Batch runs for custom files and the master mountain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23B80-3311-4684-897B-CA66D924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4E68D-9353-4565-A65C-71DF79EB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B348C-A157-487E-89FA-A11B4FE9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455E3-B0AD-4D5D-8017-A7D2086B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Snowfall, wind, slope, and risk-history 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A6F08-032D-4999-8DA6-5630CFD0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362200" cy="2476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13BF9-2258-483C-B21C-B9600EF7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62125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45"/>
          </a:solidFill>
          <a:ln xmlns:a="http://schemas.openxmlformats.org/drawingml/2006/main" w="0">
            <a:solidFill>
              <a:srgbClr val="D645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3F96F-DFE9-44AD-AF18-2C6BF29D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Safety panel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96E00-6E4B-4E33-B1EF-86AC3FFA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241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Warnings, escalation reasons, and non-autonomous disclaimer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39FDD-7053-422C-9CD6-94B615FC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61011-FE59-4FDF-B934-01A75A04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62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Demo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F09DC-EF7D-4C94-97EE-902E423B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0540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Select a mountain record, run backend prediction, inspect risk level and reasons, then discuss limitations before any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48F8E-1AC7-45F2-AD38-6F2BE7A2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42AE9-0818-407F-A9DD-523AC882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9529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F566E-5F09-4633-BA13-BD4ABA0D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Zero-Phase Work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75C55-4CFF-4BE4-B4E6-EC543EE2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The next phase should focus on credibility: better data, stronger validation, and a disciplined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89E30-8F56-4F2B-856C-146B4B79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716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79"/>
          </a:solidFill>
          <a:ln xmlns:a="http://schemas.openxmlformats.org/drawingml/2006/main" w="0">
            <a:solidFill>
              <a:srgbClr val="1E4E7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5F7B6-293D-47F3-8744-2166937F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954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E20BE-C6E0-4E16-93CB-03E5E8B2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28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Polish zero-phase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0B192-CAAC-481A-9954-3EBC3444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383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Show workflow, dashboard, and caveats clearly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26808-FB92-4827-BA8F-ACDD7C2A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80641-76C3-439B-8C20-A6C103C4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717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26360-5BB6-4E0A-AC0C-19A45CF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Improve data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77304-A7F5-459B-9F55-E3C1184F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14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Add matched negative examples and real telemetry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C38A3-5B1C-4552-B2F7-2AC5EFDE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98C42-23D6-4E73-8CD2-BC83D2BF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480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A94DC-9CE0-4890-A5D4-B31256C5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81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Strengthen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2DD69-DAFE-411F-94BC-3525FF8A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90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Compare against trivial baselines and realistic holdouts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21014-13A7-41CA-A438-7BD4FA62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00550"/>
            <a:ext cx="819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3A7D4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6697C-3AB7-4CAB-B09A-309A06D7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243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F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CD4F1-5A34-4919-B702-9C6F8399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232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244"/>
                </a:solidFill>
                <a:latin typeface="Arial"/>
                <a:ea typeface="Arial"/>
                <a:cs typeface="Arial"/>
              </a:rPr>
              <a:t>Extend safely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5500D-48F6-40D7-860C-3E22EB97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672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4B5C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5C68"/>
                </a:solidFill>
                <a:latin typeface="Arial"/>
                <a:ea typeface="Arial"/>
                <a:cs typeface="Arial"/>
              </a:rPr>
              <a:t>Weather APIs, IoT sensors, satellite/terrain data, RAG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A0949-5775-4105-BC90-91A09885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72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Success measure for zero phase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07FDB-8586-4078-92AC-B538ABC9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Reviewers should understand the problem, prototype workflow, implemented pieces, and evidence still required.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AC2C9-FEF8-4E5A-9AC0-01A06907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A1173-73FA-48EE-8AD4-C14BA4B6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38901763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23244"/>
            </a:gs>
            <a:gs pos="60000">
              <a:srgbClr val="1E4E79"/>
            </a:gs>
            <a:gs pos="100000">
              <a:srgbClr val="2A9D8F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E4CE3-588E-4C03-8438-D2A4B393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We Are Presenting in Zero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F32E9-B2B2-4464-A818-D688C336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7334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clear avalanche-risk problem statement for SIH260105</a:t>
            </a:r>
          </a:p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working research architecture with backend, ML pipeline, and dashboard</a:t>
            </a:r>
          </a:p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explainable risk-assessment flow with human review</a:t>
            </a:r>
          </a:p>
          <a:p xmlns:a="http://schemas.openxmlformats.org/drawingml/2006/main">
            <a:pPr marL="228600" indent="-101600">
              <a:lnSpc>
                <a:spcPct val="112000"/>
              </a:lnSpc>
              <a:spcAft>
                <a:spcPts val="1300"/>
              </a:spcAft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realistic roadmap for data, validation, and future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2F172-7215-4EA2-B755-5575DA0B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2383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DF6FD-290D-4FF9-8AEE-69FB50A5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288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45F76-4F48-4440-B2CD-B6031FDC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4800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0">
                <a:solidFill>
                  <a:srgbClr val="EAF1F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AF1F5"/>
                </a:solidFill>
                <a:latin typeface="Arial"/>
                <a:ea typeface="Arial"/>
                <a:cs typeface="Arial"/>
              </a:rPr>
              <a:t>Not a certified avalanche warning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8F2CE-686D-4549-BCC9-7FA1129C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8EA5D-00AC-4056-9A69-C60EA3EE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4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DDE8E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8EE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1165A-1127-4D83-8BCF-CB36CFFF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B7C86"/>
                </a:solidFill>
                <a:latin typeface="Arial"/>
                <a:ea typeface="Arial"/>
                <a:cs typeface="Arial"/>
              </a:rPr>
              <a:t>AI-Based Avalanche Early Warning and Risk Assessment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DF8AA-D059-4B8B-8838-180FBEAC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6B7C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B7C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2278201"/>
      </p:ext>
    </p:extLst>
  </p:cSld>
</p:sld>
</file>

<file path=ppt/theme/theme1.xml><?xml version="1.0" encoding="utf-8"?>
<a:theme xmlns:a="http://schemas.openxmlformats.org/drawingml/2006/main" name="ChatGPT">
  <a:themeElements>
    <a:clrScheme name="Avalanche Research">
      <a:dk1>
        <a:srgbClr val="000000"/>
      </a:dk1>
      <a:lt1>
        <a:srgbClr val="FFFFFF"/>
      </a:lt1>
      <a:dk2>
        <a:srgbClr val="23313A"/>
      </a:dk2>
      <a:lt2>
        <a:srgbClr val="DDE8EE"/>
      </a:lt2>
      <a:accent1>
        <a:srgbClr val="1E4E79"/>
      </a:accent1>
      <a:accent2>
        <a:srgbClr val="2A9D8F"/>
      </a:accent2>
      <a:accent3>
        <a:srgbClr val="F2A541"/>
      </a:accent3>
      <a:accent4>
        <a:srgbClr val="D64545"/>
      </a:accent4>
      <a:accent5>
        <a:srgbClr val="5E548E"/>
      </a:accent5>
      <a:accent6>
        <a:srgbClr val="3A7D44"/>
      </a:accent6>
      <a:hlink>
        <a:srgbClr val="1E4E79"/>
      </a:hlink>
      <a:folHlink>
        <a:srgbClr val="5E54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valanche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2026-09-17T13:34:01.0330000Z</dcterms:created>
  <dcterms:modified xsi:type="dcterms:W3CDTF">2026-09-17T13:34:01.0330000Z</dcterms:modified>
</coreProperties>
</file>